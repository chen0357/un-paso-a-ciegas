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VLVS:
Un Paso a Ciegas</a:t>
            </a:r>
          </a:p>
          <a:p>
            <a:pPr>
              <a:spcBef>
                <a:spcPts val="1800"/>
              </a:spcBef>
            </a:pPr>
            <a:r>
              <a:rPr sz="1600" b="0">
                <a:solidFill>
                  <a:srgbClr val="D0DCE8"/>
                </a:solidFill>
                <a:latin typeface="Calibri"/>
              </a:rPr>
              <a:t>Prototipo de Realidad Virtual para sensibilizar sobre la movilidad urbana con visión reducida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194560"/>
            <a:ext cx="6217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Trabajo Fin de Grado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Chen Yixuan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Universitat Politècnica de València — EPSG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Defensa · 10–15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Estructura de la exposición (~12–14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Contexto y motivación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Objetivos del TFG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Estado del arte (síntesis)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Diseño: experiencia, modos visuales e interacción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Demostración en vídeo (recorrido y jugabilidad)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Implementación en Unity / Meta Quest 2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Pruebas y resultados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 Conclusiones, trabajos futuros y 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2/15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Contexto y 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¿Por qué este proyecto?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La OMS sitúa la ceguera y la discapacidad visual como un reto global de salud y autonomía.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La movilidad urbana exige interpretar señales, evitar obstáculos y orientarse con poca información visual.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Muchas experiencias VR muestran síntomas oculares, pero integran poco audio, háptica y tareas de desplazamiento.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VLVS propone un recorrido urbano breve y reconocible para sensibilizar, no diagnosticar.</a:t>
            </a:r>
          </a:p>
        </p:txBody>
      </p:sp>
      <p:pic>
        <p:nvPicPr>
          <p:cNvPr id="8" name="Picture 7" descr="Vista panorámica de Level_Str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4114800" cy="28208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3/15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General y específicos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General: diseñar y desarrollar un prototipo VR para sensibilizar sobre la movilidad urbana con visión reducida.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Implementar modos de visión reducida seleccionables (pedagógicos, no clínicos).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Construir un recorrido urbano con tareas progresivas (acera → cruce → metro).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Integrar audio espacial y feedback háptico como apoyos no visuales.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Evaluar el prototipo técnica y experiencialmente (funcionalidad, rendimiento, usuarios).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4/15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Estado del 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Qué existe y qué aporta VLVS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Referencias: See What I See (NEI), Tengo Baja Visión VR, BlindSimulator, XREye…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Tendencia: simular síntomas visuales; menor énfasis en movilidad + multimodalidad.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Hueco: combinar modos visuales, tareas urbanas secuenciales, audio espacial y háptica en un prototipo demostrable.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Aportación de VLVS: sensibilización por la acción (recorrido), no solo por el filtro de cámara.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5/15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Iterativa e incremental (mar–ago)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560320" cy="2377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5C26"/>
                </a:solidFill>
                <a:latin typeface="Calibri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5C"/>
                </a:solidFill>
                <a:latin typeface="Calibri"/>
              </a:rPr>
              <a:t>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Revisión
y requisitos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560320" cy="2377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965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5C26"/>
                </a:solidFill>
                <a:latin typeface="Calibri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5C"/>
                </a:solidFill>
                <a:latin typeface="Calibri"/>
              </a:rPr>
              <a:t>Diseño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017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UX, escenario
y modos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560320" cy="2377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5C26"/>
                </a:solidFill>
                <a:latin typeface="Calibri"/>
              </a:rPr>
              <a:t>Fase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5C"/>
                </a:solidFill>
                <a:latin typeface="Calibri"/>
              </a:rPr>
              <a:t>Implementación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Unity, XR,
audio/háptica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560320" cy="2377440"/>
          </a:xfrm>
          <a:prstGeom prst="roundRect">
            <a:avLst/>
          </a:prstGeom>
          <a:solidFill>
            <a:srgbClr val="F4F6F8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965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5C26"/>
                </a:solidFill>
                <a:latin typeface="Calibri"/>
              </a:rPr>
              <a:t>Fase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5C"/>
                </a:solidFill>
                <a:latin typeface="Calibri"/>
              </a:rPr>
              <a:t>Pruebas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017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Funcional,
rendimiento, 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Ciclos ~2 semanas · validación continua · Profiler Unity · Meta Quest 2 (PCVR).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6/15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Diseño de la experiencia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Flujo de usuario y bucle de partida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Menú → nivel (Level_Street) → modo visual → recorrido → resultados.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Tres tareas en orden estricto: cruzar la acera, cruzar el cruce, llegar al metro.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HUD: salud, tiempo, objetivos; pantalla final con tiempo, colisiones y pistas.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Pausa: continuar, configuración, reiniciar o volver al menú.</a:t>
            </a:r>
          </a:p>
        </p:txBody>
      </p:sp>
      <p:pic>
        <p:nvPicPr>
          <p:cNvPr id="8" name="Picture 7" descr="flujo_usu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62605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7/15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Modos de visión reducida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Tres perfiles pedagógicos (no escala clínica)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57600" cy="457200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do para baja visi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2918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1605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5C"/>
                </a:solidFill>
                <a:latin typeface="Calibri"/>
              </a:rPr>
              <a:t>Baja visión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Calibri"/>
              </a:rPr>
              <a:t>Óvalo central;
periferia oscura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657600" cy="457200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do discapacidad 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45920"/>
            <a:ext cx="329184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41605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5C"/>
                </a:solidFill>
                <a:latin typeface="Calibri"/>
              </a:rPr>
              <a:t>Discapacidad visual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7200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Calibri"/>
              </a:rPr>
              <a:t>Desenfoque
general (default)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63040"/>
            <a:ext cx="3657600" cy="4572000"/>
          </a:xfrm>
          <a:prstGeom prst="roundRect">
            <a:avLst/>
          </a:prstGeom>
          <a:solidFill>
            <a:srgbClr val="F4F6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odo de enfermedades visu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645920"/>
            <a:ext cx="3291840" cy="23774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12480" y="41605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5C"/>
                </a:solidFill>
                <a:latin typeface="Calibri"/>
              </a:rPr>
              <a:t>Enfermedades visuales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7200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Calibri"/>
              </a:rPr>
              <a:t>Contraste bajo;
velo amarillento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8/15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Escenario urbano y tareas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Level_Street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Fragmento urbano corto: aceras, cruce con semáforos, tráfico y entrada al metro.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task_1: avanzar por la acera / pasarela peatonal.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task_2: cruzar la calzada (audio del semáforo + DangerZone).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task_3: orientarse hacia la entrada del metro (audio espacial de objetivo).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Obstáculos y zonas de peligro restan salud y registran colisiones.</a:t>
            </a:r>
          </a:p>
        </p:txBody>
      </p:sp>
      <p:pic>
        <p:nvPicPr>
          <p:cNvPr id="8" name="Picture 7" descr="Detalles del cr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5029200" cy="35486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9/15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Demostración del prototipo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Vídeo breve · recorrido y jugabilidad (~1–2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554480"/>
            <a:ext cx="9966960" cy="4206240"/>
          </a:xfrm>
          <a:prstGeom prst="roundRect">
            <a:avLst/>
          </a:prstGeom>
          <a:solidFill>
            <a:srgbClr val="E8ECF0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1828800"/>
            <a:ext cx="9418320" cy="3200400"/>
          </a:xfrm>
          <a:prstGeom prst="roundRect">
            <a:avLst/>
          </a:prstGeom>
          <a:noFill/>
          <a:ln>
            <a:solidFill>
              <a:srgbClr val="55555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9052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A5C"/>
                </a:solidFill>
                <a:latin typeface="Calibri"/>
              </a:rPr>
              <a:t>▶  Espacio reservado para el vídeo</a:t>
            </a:r>
          </a:p>
          <a:p>
            <a:pPr algn="ctr">
              <a:spcBef>
                <a:spcPts val="1200"/>
              </a:spcBef>
            </a:pPr>
            <a:r>
              <a:rPr sz="1600" b="0">
                <a:solidFill>
                  <a:srgbClr val="555555"/>
                </a:solidFill>
                <a:latin typeface="Calibri"/>
              </a:rPr>
              <a:t>En PowerPoint: Insertar → Vídeo → Este dispositivo
Sugerencia: 60–90 s (menú → modo → acera → cruce → metro)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Coloca el archivo en TFG/video/  (p. ej. demo_recorrido.mp4) y sustitúyelo aquí antes de la defensa.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10/15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Interacción no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Audio espacial + háptica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Cuando la visión es insuficiente, otras vías adquieren más peso (reweighting / compensación).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Audio espacial: orientación al objetivo y avisos de peligro.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Háptica (bastón virtual): vibración al contactar acera, pared, pavimento táctil u obstáculo.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En VR accesible, audio + háptica favorecen exploración sin depender solo de la imagen.</a:t>
            </a:r>
          </a:p>
        </p:txBody>
      </p:sp>
      <p:pic>
        <p:nvPicPr>
          <p:cNvPr id="8" name="Picture 7" descr="H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297680" cy="20251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11/15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Implementación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Unity 6 · XR · Meta Quest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Unity 6000.0.58f2 + XR Interaction Toolkit + URP.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Arquitectura modular C#: GameManager, TaskManager, VisionModeManager, SpatialAudioManager…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Persistencia del modo visual (PlayerPrefs / DontDestroyOnLoad).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Assets: modelos propios + CGTrader (Royalty Free) + compras en Xianyu.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Repositorio: github.com/chen0357/Un-Paso-a-Ciegas</a:t>
            </a:r>
          </a:p>
        </p:txBody>
      </p:sp>
      <p:pic>
        <p:nvPicPr>
          <p:cNvPr id="8" name="Picture 7" descr="GameManager、Task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297680" cy="83425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12/15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Pruebas y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Funcional · rendimiento · usuarios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4389120"/>
          </a:xfrm>
          <a:prstGeom prst="round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Qué se validó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•  Flujo completo y orden de tareas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•  Persistencia del modo visual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•  Bastón, superficies y DangerZone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•  Semáforos, tráfico y pausa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22222"/>
                </a:solidFill>
                <a:latin typeface="Calibri"/>
              </a:rPr>
              <a:t>•  Profiler: fluidez con sistemas activos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389120"/>
          </a:xfrm>
          <a:prstGeom prst="round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3A5C"/>
                </a:solidFill>
                <a:latin typeface="Calibri"/>
              </a:rPr>
              <a:t>Con usuarios (n = 3)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22222"/>
                </a:solidFill>
                <a:latin typeface="Calibri"/>
              </a:rPr>
              <a:t>•  Recorridos ~3:20–5:10 (modo discapacidad visual)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22222"/>
                </a:solidFill>
                <a:latin typeface="Calibri"/>
              </a:rPr>
              <a:t>•  Cruce: fase más tensa; audio del semáforo útil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22222"/>
                </a:solidFill>
                <a:latin typeface="Calibri"/>
              </a:rPr>
              <a:t>•  Tras ajustar volumen, metro localizable sin depender solo del marcador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22222"/>
                </a:solidFill>
                <a:latin typeface="Calibri"/>
              </a:rPr>
              <a:t>•  Limitación: muestra pequeña, sin discapacidad visual real, sin cuestionario 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13/15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Calibri"/>
              </a:rPr>
              <a:t>Conclusiones y trabajos futuros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Se entregó un prototipo demostrable PCVR coherente con objetivos y bibliografía.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La sensibilización nace de la acción multimodal (visión + audio + háptica + tareas), no solo del overlay.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Futuro: más tramos urbanos, modos más granulares, estudio con más participantes (idealmente con baja visión).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ODS de relación alta: 4 (educación), 10 (desigualdades), 11 (ciudades inclusivas).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VLVS: Un Paso a Ciegas  ·  Defensa TFG  ·  14/15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Gracias por su atención</a:t>
            </a:r>
          </a:p>
          <a:p>
            <a:pPr algn="ctr">
              <a:spcBef>
                <a:spcPts val="2000"/>
              </a:spcBef>
            </a:pPr>
            <a:r>
              <a:rPr sz="2200" b="0">
                <a:solidFill>
                  <a:srgbClr val="D0DCE8"/>
                </a:solidFill>
                <a:latin typeface="Calibri"/>
              </a:rPr>
              <a:t>VLVS: Un Paso a Ciegas  ·  Preguntas</a:t>
            </a:r>
          </a:p>
          <a:p>
            <a:pPr algn="ctr">
              <a:spcBef>
                <a:spcPts val="2800"/>
              </a:spcBef>
            </a:pPr>
            <a:r>
              <a:rPr sz="1600" b="0">
                <a:solidFill>
                  <a:srgbClr val="A8C0D8"/>
                </a:solidFill>
                <a:latin typeface="Calibri"/>
              </a:rPr>
              <a:t>github.com/chen0357/Un-Paso-a-Ciegas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