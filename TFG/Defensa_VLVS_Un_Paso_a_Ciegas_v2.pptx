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 panose="020F0502020204030204"/>
              </a:rPr>
              <a:t>VLVS:
Un Paso a Ciegas</a:t>
            </a:r>
            <a:endParaRPr sz="3600" b="1">
              <a:solidFill>
                <a:srgbClr val="FFFFFF"/>
              </a:solidFill>
              <a:latin typeface="Calibri" panose="020F0502020204030204"/>
            </a:endParaRPr>
          </a:p>
          <a:p>
            <a:pPr>
              <a:spcBef>
                <a:spcPts val="1800"/>
              </a:spcBef>
            </a:pPr>
            <a:r>
              <a:rPr sz="1600" b="0">
                <a:solidFill>
                  <a:srgbClr val="D0DCE8"/>
                </a:solidFill>
                <a:latin typeface="Calibri" panose="020F0502020204030204"/>
              </a:rPr>
              <a:t>Prototipo de Realidad Virtual para sensibilizar sobre la movilidad urbana con visión reducida</a:t>
            </a:r>
            <a:endParaRPr sz="1600" b="0">
              <a:solidFill>
                <a:srgbClr val="D0DCE8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0" y="2194560"/>
            <a:ext cx="6217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A3A5C"/>
                </a:solidFill>
                <a:latin typeface="Calibri" panose="020F0502020204030204"/>
              </a:rPr>
              <a:t>Trabajo Fin de Grado</a:t>
            </a:r>
            <a:endParaRPr sz="2000" b="1">
              <a:solidFill>
                <a:srgbClr val="1A3A5C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Chen Yixuan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Universitat Politècnica de València — EPSG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Defensa · 10–15 minutos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Agenda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Estructura de la exposición (~12–14 min)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Contexto y motivación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Objetivos del TFG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Estado del arte (síntesis)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Diseño: experiencia, modos visuales e interacción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Demostración en vídeo (recorrido y jugabilidad)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Implementación en Unity / Meta Quest 2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Pruebas y resultados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 panose="020F0502020204030204"/>
              </a:rPr>
              <a:t>•  Conclusiones, trabajos futuros y ODS</a:t>
            </a:r>
            <a:endParaRPr sz="20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2/15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Contexto y motivación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¿Por qué este proyecto?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La OMS sitúa la ceguera y la discapacidad visual como un reto global de salud y autonomía.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La movilidad urbana exige interpretar señales, evitar obstáculos y orientarse con poca información visual.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Muchas experiencias VR muestran síntomas oculares, pero integran poco audio, háptica y tareas de desplazamiento.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VLVS propone un recorrido urbano breve y reconocible para sensibilizar, no diagnosticar.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</p:txBody>
      </p:sp>
      <p:pic>
        <p:nvPicPr>
          <p:cNvPr id="8" name="Picture 7" descr="Vista panorámica de Level_Stre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1554480"/>
            <a:ext cx="4114800" cy="28208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3/15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Objetivos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General y específicos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General: diseñar y desarrollar un prototipo VR para sensibilizar sobre la movilidad urbana con visión reducida.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Implementar modos de visión reducida seleccionables (pedagógicos, no clínicos).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Construir un recorrido urbano con tareas progresivas (acera → cruce → metro).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Integrar audio espacial y feedback háptico como apoyos no visuales.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 panose="020F0502020204030204"/>
              </a:rPr>
              <a:t>•  Evaluar el prototipo técnica y experiencialmente (funcionalidad, rendimiento, usuarios).</a:t>
            </a:r>
            <a:endParaRPr sz="18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4/15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Estado del arte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Comparación de soluciones existentes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291840" cy="640080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Solución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1920" y="1463040"/>
            <a:ext cx="1737360" cy="640080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536192"/>
            <a:ext cx="16459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Simulación
visual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79" y="1463040"/>
            <a:ext cx="1737360" cy="640080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4999" y="1536192"/>
            <a:ext cx="16459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Entorno
urbano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06640" y="1463040"/>
            <a:ext cx="1737360" cy="640080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16459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Tareas de
movilidad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0" y="1463040"/>
            <a:ext cx="1737360" cy="640080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536192"/>
            <a:ext cx="16459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Audio /
Háptica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2103120"/>
            <a:ext cx="329184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2128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See What I See (NEI)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31920" y="210312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221284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79" y="210312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4999" y="221284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✗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06640" y="210312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21284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✗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0" y="210312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21284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✗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" y="2606039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7157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Tengo Baja Visión VR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931920" y="2606039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39" y="271576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69279" y="2606039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71576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△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406640" y="2606039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71576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✗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44000" y="2606039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271576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△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0080" y="3108960"/>
            <a:ext cx="329184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2186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BlindSimulator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931920" y="310896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7639" y="321868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669279" y="310896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321868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406640" y="310896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321868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△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144000" y="3108960"/>
            <a:ext cx="1737360" cy="50292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321868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40080" y="361188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7216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XREye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931920" y="361188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7639" y="372160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669279" y="361188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999" y="372160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△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406640" y="361188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372160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△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144000" y="3611880"/>
            <a:ext cx="1737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372160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Calibri" panose="020F0502020204030204"/>
              </a:rPr>
              <a:t>△</a:t>
            </a:r>
            <a:endParaRPr sz="13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40080" y="4114800"/>
            <a:ext cx="3291840" cy="502920"/>
          </a:xfrm>
          <a:prstGeom prst="rect">
            <a:avLst/>
          </a:prstGeom>
          <a:solidFill>
            <a:srgbClr val="FFF3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42245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 panose="020F0502020204030204"/>
              </a:rPr>
              <a:t>VLVS (este TFG)</a:t>
            </a:r>
            <a:endParaRPr sz="13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931920" y="4114800"/>
            <a:ext cx="1737360" cy="502920"/>
          </a:xfrm>
          <a:prstGeom prst="rect">
            <a:avLst/>
          </a:prstGeom>
          <a:solidFill>
            <a:srgbClr val="FFF3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77639" y="422452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669279" y="4114800"/>
            <a:ext cx="1737360" cy="502920"/>
          </a:xfrm>
          <a:prstGeom prst="rect">
            <a:avLst/>
          </a:prstGeom>
          <a:solidFill>
            <a:srgbClr val="FFF3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14999" y="422452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406640" y="4114800"/>
            <a:ext cx="1737360" cy="502920"/>
          </a:xfrm>
          <a:prstGeom prst="rect">
            <a:avLst/>
          </a:prstGeom>
          <a:solidFill>
            <a:srgbClr val="FFF3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52360" y="422452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144000" y="4114800"/>
            <a:ext cx="1737360" cy="502920"/>
          </a:xfrm>
          <a:prstGeom prst="rect">
            <a:avLst/>
          </a:prstGeom>
          <a:solidFill>
            <a:srgbClr val="FFF3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9720" y="422452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Calibri" panose="020F0502020204030204"/>
              </a:rPr>
              <a:t>✓</a:t>
            </a:r>
            <a:endParaRPr sz="13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Calibri" panose="020F0502020204030204"/>
              </a:rPr>
              <a:t>✓ = presente   ·   △ = parcial / limitado   ·   ✗ = ausente o no central</a:t>
            </a:r>
            <a:endParaRPr sz="13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40080" y="5212080"/>
            <a:ext cx="10881360" cy="868680"/>
          </a:xfrm>
          <a:prstGeom prst="roundRect">
            <a:avLst/>
          </a:prstGeom>
          <a:solidFill>
            <a:srgbClr val="F4F6F8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8845" y="5349240"/>
            <a:ext cx="1023302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500" b="0">
                <a:solidFill>
                  <a:srgbClr val="222222"/>
                </a:solidFill>
                <a:latin typeface="Calibri" panose="020F0502020204030204"/>
              </a:rPr>
              <a:t>La mayor</a:t>
            </a:r>
            <a:r>
              <a:rPr lang="en-US" altLang="en-US" sz="1500" b="0">
                <a:solidFill>
                  <a:srgbClr val="222222"/>
                </a:solidFill>
                <a:latin typeface="Calibri" panose="020F0502020204030204"/>
              </a:rPr>
              <a:t>í</a:t>
            </a:r>
            <a:r>
              <a:rPr lang="en-US" altLang="zh-CN" sz="1500" b="0">
                <a:solidFill>
                  <a:srgbClr val="222222"/>
                </a:solidFill>
                <a:latin typeface="Calibri" panose="020F0502020204030204"/>
              </a:rPr>
              <a:t>a de soluciones se centran en la percepci</a:t>
            </a:r>
            <a:r>
              <a:rPr lang="en-US" altLang="en-US" sz="1500" b="0">
                <a:solidFill>
                  <a:srgbClr val="222222"/>
                </a:solidFill>
                <a:latin typeface="Calibri" panose="020F0502020204030204"/>
              </a:rPr>
              <a:t>ó</a:t>
            </a:r>
            <a:r>
              <a:rPr lang="en-US" altLang="zh-CN" sz="1500" b="0">
                <a:solidFill>
                  <a:srgbClr val="222222"/>
                </a:solidFill>
                <a:latin typeface="Calibri" panose="020F0502020204030204"/>
              </a:rPr>
              <a:t>n visual, mientras que VLVS combina simulaci</a:t>
            </a:r>
            <a:r>
              <a:rPr lang="en-US" altLang="en-US" sz="1500" b="0">
                <a:solidFill>
                  <a:srgbClr val="222222"/>
                </a:solidFill>
                <a:latin typeface="Calibri" panose="020F0502020204030204"/>
              </a:rPr>
              <a:t>ó</a:t>
            </a:r>
            <a:r>
              <a:rPr lang="en-US" altLang="zh-CN" sz="1500" b="0">
                <a:solidFill>
                  <a:srgbClr val="222222"/>
                </a:solidFill>
                <a:latin typeface="Calibri" panose="020F0502020204030204"/>
              </a:rPr>
              <a:t>n, movilidad urbana y apoyos multimodales.</a:t>
            </a:r>
            <a:endParaRPr lang="en-US" altLang="zh-CN"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5/15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Metodología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Iterativa e incremental (mar–ago)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 panose="020F0502020204030204"/>
              </a:rPr>
              <a:t>Fase 1</a:t>
            </a:r>
            <a:endParaRPr sz="14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Bases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Revisión
y requisitos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 panose="020F0502020204030204"/>
              </a:rPr>
              <a:t>Fase 2</a:t>
            </a:r>
            <a:endParaRPr sz="14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1879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Diseño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79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UX, escenario
y modos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 panose="020F0502020204030204"/>
              </a:rPr>
              <a:t>Fase 3</a:t>
            </a:r>
            <a:endParaRPr sz="14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Implementación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Unity, XR,
audio/háptica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 panose="020F0502020204030204"/>
              </a:rPr>
              <a:t>Fase 4</a:t>
            </a:r>
            <a:endParaRPr sz="14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8116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Pruebas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1160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Funcional,
rendimiento, UX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 panose="020F0502020204030204"/>
              </a:rPr>
              <a:t>•  Ciclos ~2 semanas · validación continua · Profiler Unity · Meta Quest 2 (PCVR).</a:t>
            </a:r>
            <a:endParaRPr sz="17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6/15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Diseño de la experiencia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Flujo del usuario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691640" cy="1234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MENÚ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22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23160" y="1828800"/>
            <a:ext cx="1691640" cy="1234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05740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MODO
VISUAL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23360" y="2194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22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1691640" cy="1234440"/>
          </a:xfrm>
          <a:prstGeom prst="roundRect">
            <a:avLst/>
          </a:prstGeom>
          <a:solidFill>
            <a:srgbClr val="E3F2E9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ACERA
Task 1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22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1691640" cy="1234440"/>
          </a:xfrm>
          <a:prstGeom prst="roundRect">
            <a:avLst/>
          </a:prstGeom>
          <a:solidFill>
            <a:srgbClr val="E3F2E9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CRUCE
Task 2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2194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22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83880" y="1828800"/>
            <a:ext cx="1691640" cy="1234440"/>
          </a:xfrm>
          <a:prstGeom prst="roundRect">
            <a:avLst/>
          </a:prstGeom>
          <a:solidFill>
            <a:srgbClr val="E3F2E9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METRO
Task 3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080" y="2194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22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104120" y="1828800"/>
            <a:ext cx="1691640" cy="1234440"/>
          </a:xfrm>
          <a:prstGeom prst="roundRect">
            <a:avLst/>
          </a:prstGeom>
          <a:solidFill>
            <a:srgbClr val="FFF3E0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05740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RESULTADOS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Calibri" panose="020F0502020204030204"/>
              </a:rPr>
              <a:t>La experiencia se estructura como un recorrido urbano progresivo donde el usuario combina visión, audio y háptica para completar tres tareas.</a:t>
            </a:r>
            <a:endParaRPr sz="17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3474720" cy="13716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⏱  Tiempo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 panose="020F0502020204030204"/>
              </a:rPr>
              <a:t>Duración del recorrido</a:t>
            </a:r>
            <a:endParaRPr sz="14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480559" y="4297680"/>
            <a:ext cx="3474720" cy="13716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4805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⚠  Riesgo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63440" y="49834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 panose="020F0502020204030204"/>
              </a:rPr>
              <a:t>Salud y DangerZone</a:t>
            </a:r>
            <a:endParaRPr sz="14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29600" y="4297680"/>
            <a:ext cx="3474720" cy="13716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4805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🔊  Pistas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0" y="49834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 panose="020F0502020204030204"/>
              </a:rPr>
              <a:t>Apoyos al avanzar</a:t>
            </a:r>
            <a:endParaRPr sz="14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7/15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88442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3200" b="1">
                <a:solidFill>
                  <a:srgbClr val="1A3A5C"/>
                </a:solidFill>
                <a:latin typeface="Calibri" panose="020F0502020204030204"/>
              </a:rPr>
              <a:t>Modos de percepci</a:t>
            </a:r>
            <a:r>
              <a:rPr lang="en-US" altLang="en-US" sz="3200" b="1">
                <a:solidFill>
                  <a:srgbClr val="1A3A5C"/>
                </a:solidFill>
                <a:latin typeface="Calibri" panose="020F0502020204030204"/>
              </a:rPr>
              <a:t>ó</a:t>
            </a:r>
            <a:r>
              <a:rPr lang="en-US" altLang="zh-CN" sz="3200" b="1">
                <a:solidFill>
                  <a:srgbClr val="1A3A5C"/>
                </a:solidFill>
                <a:latin typeface="Calibri" panose="020F0502020204030204"/>
              </a:rPr>
              <a:t>n visual</a:t>
            </a:r>
            <a:endParaRPr lang="en-US" altLang="zh-CN"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Perfiles pedagógicos (no clínicos)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640080"/>
          </a:xfrm>
          <a:prstGeom prst="roundRect">
            <a:avLst/>
          </a:prstGeom>
          <a:solidFill>
            <a:srgbClr val="E8F0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3A5C"/>
                </a:solidFill>
                <a:latin typeface="Calibri" panose="020F0502020204030204"/>
              </a:rPr>
              <a:t>Visión normal (referencia)  →  Baja visión  →  Discapacidad visual  →  Enfermedades visuales</a:t>
            </a:r>
            <a:endParaRPr sz="15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3657600" cy="36576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o para baja visió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329184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709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 panose="020F0502020204030204"/>
              </a:rPr>
              <a:t>Baja visión</a:t>
            </a:r>
            <a:endParaRPr sz="15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Óvalo central; periferia oscura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43400" y="2240280"/>
            <a:ext cx="3657600" cy="36576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do discapacidad 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377440"/>
            <a:ext cx="329184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6280" y="4709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 panose="020F0502020204030204"/>
              </a:rPr>
              <a:t>Discapacidad visual</a:t>
            </a:r>
            <a:endParaRPr sz="15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502920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Desenfoque general (default)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83880" y="2240280"/>
            <a:ext cx="3657600" cy="36576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do de enfermedades visu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377440"/>
            <a:ext cx="3291840" cy="2194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4709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 panose="020F0502020204030204"/>
              </a:rPr>
              <a:t>Enfermedades visuales</a:t>
            </a:r>
            <a:endParaRPr sz="15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502920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Contraste bajo; velo amarillento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Calibri" panose="020F0502020204030204"/>
              </a:rPr>
              <a:t>No representan una simulación clínica: son tres perfiles de dificultad perceptiva para sensibilizar.</a:t>
            </a:r>
            <a:endParaRPr sz="13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8/15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Escenario urbano y tareas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Entorno guiado por objetivos (no free roam)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96596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874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START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1783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88920" y="1554480"/>
            <a:ext cx="1965960" cy="1005840"/>
          </a:xfrm>
          <a:prstGeom prst="roundRect">
            <a:avLst/>
          </a:prstGeom>
          <a:solidFill>
            <a:srgbClr val="E3F2E9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737360"/>
            <a:ext cx="1874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Acera
Task 1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1965960" cy="1005840"/>
          </a:xfrm>
          <a:prstGeom prst="roundRect">
            <a:avLst/>
          </a:prstGeom>
          <a:solidFill>
            <a:srgbClr val="E3F2E9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737360"/>
            <a:ext cx="1874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Cruce
Task 2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03720" y="1783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69480" y="1554480"/>
            <a:ext cx="1965960" cy="1005840"/>
          </a:xfrm>
          <a:prstGeom prst="roundRect">
            <a:avLst/>
          </a:prstGeom>
          <a:solidFill>
            <a:srgbClr val="E3F2E9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737360"/>
            <a:ext cx="1874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Metro
Task 3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1783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C45C26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509760" y="1554480"/>
            <a:ext cx="196596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737360"/>
            <a:ext cx="1874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END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 Fragmento urbano corto: aceras, cruce con semáforos/tráfico y entrada al metro.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 Las tres tareas son secuenciales: no se puede saltar fases.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 Obstáculos y DangerZone restan salud y registran colisiones.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 Es un entorno orientado a misiones, no un mundo abierto de exploración libre.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pic>
        <p:nvPicPr>
          <p:cNvPr id="22" name="Picture 21" descr="Detalles del cru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4846320" cy="3419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9/15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Demostración del prototipo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Vídeo breve · recorrido y jugabilidad (~1–2 min)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554480"/>
            <a:ext cx="9966960" cy="4206240"/>
          </a:xfrm>
          <a:prstGeom prst="roundRect">
            <a:avLst/>
          </a:prstGeom>
          <a:solidFill>
            <a:srgbClr val="E8ECF0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9052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5C"/>
                </a:solidFill>
                <a:latin typeface="Calibri" panose="020F0502020204030204"/>
              </a:rPr>
              <a:t>▶  Espacio reservado para el vídeo</a:t>
            </a:r>
            <a:endParaRPr sz="2600" b="1">
              <a:solidFill>
                <a:srgbClr val="1A3A5C"/>
              </a:solidFill>
              <a:latin typeface="Calibri" panose="020F0502020204030204"/>
            </a:endParaRPr>
          </a:p>
          <a:p>
            <a:pPr algn="ctr">
              <a:spcBef>
                <a:spcPts val="1200"/>
              </a:spcBef>
            </a:pPr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En PowerPoint: Insertar → Vídeo → Este dispositivo
Sugerencia: 60–90 s (menú → modo → acera → cruce → metro)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 panose="020F0502020204030204"/>
              </a:rPr>
              <a:t>Coloca el archivo en TFG/video/  (p. ej. demo_recorrido.mp4) y sustitúyelo aquí antes de la defensa.</a:t>
            </a:r>
            <a:endParaRPr sz="14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10/15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Interacción no visual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Tres apoyos multimodales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57600" cy="42062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🔊  Audio espacial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Localizar el objetivo (metro)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Avisos de peligro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Orientación en el recorrido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57600" cy="42062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🦯  Bastón virtual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Detectar superficies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17720" y="34290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Feedback de colisión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42062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Lectura táctil del entorno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83880" y="1554480"/>
            <a:ext cx="3657600" cy="42062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🚦  Semáforo sonoro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58200" y="26517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Apoyar el cruce (task_2)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58200" y="34290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Complementar la visión reducida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42062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Reducir dependencia del marcador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11/15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Implementación técnica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Arquitectura del prototipo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926080" cy="5029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813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VLVS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91840" y="2148840"/>
            <a:ext cx="3291840" cy="45720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1945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GameManager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310896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TaskManager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Tasks 1–2–3
orden estricto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0560" y="2926080"/>
            <a:ext cx="310896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0632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VisionMode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356616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3 modos
visuales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38160" y="2926080"/>
            <a:ext cx="310896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libri" panose="020F0502020204030204"/>
              </a:rPr>
              <a:t>SpatialAudio
+ Háptica</a:t>
            </a:r>
            <a:endParaRPr sz="14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75320" y="356616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Calibri" panose="020F0502020204030204"/>
              </a:rPr>
              <a:t>Objetivo / peligro
bastón</a:t>
            </a:r>
            <a:endParaRPr sz="13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286000" y="4617720"/>
            <a:ext cx="5303520" cy="50292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68172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Unity XR / OpenXR / Meta Quest 2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0" y="1417320"/>
            <a:ext cx="3383280" cy="370332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002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3A5C"/>
                </a:solidFill>
                <a:latin typeface="Calibri" panose="020F0502020204030204"/>
              </a:rPr>
              <a:t>Stack</a:t>
            </a:r>
            <a:endParaRPr sz="1600" b="1">
              <a:solidFill>
                <a:srgbClr val="1A3A5C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22222"/>
                </a:solidFill>
                <a:latin typeface="Calibri" panose="020F0502020204030204"/>
              </a:rPr>
              <a:t>•  Unity 6 (6000.0.58f2)</a:t>
            </a:r>
            <a:endParaRPr sz="14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22222"/>
                </a:solidFill>
                <a:latin typeface="Calibri" panose="020F0502020204030204"/>
              </a:rPr>
              <a:t>•  XR Interaction Toolkit</a:t>
            </a:r>
            <a:endParaRPr sz="14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22222"/>
                </a:solidFill>
                <a:latin typeface="Calibri" panose="020F0502020204030204"/>
              </a:rPr>
              <a:t>•  OpenXR</a:t>
            </a:r>
            <a:endParaRPr sz="14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22222"/>
                </a:solidFill>
                <a:latin typeface="Calibri" panose="020F0502020204030204"/>
              </a:rPr>
              <a:t>•  Meta Quest 2 (PCVR)</a:t>
            </a:r>
            <a:endParaRPr sz="14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22222"/>
                </a:solidFill>
                <a:latin typeface="Calibri" panose="020F0502020204030204"/>
              </a:rPr>
              <a:t>•  C# modular</a:t>
            </a:r>
            <a:endParaRPr sz="14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22222"/>
                </a:solidFill>
                <a:latin typeface="Calibri" panose="020F0502020204030204"/>
              </a:rPr>
              <a:t>•  URP</a:t>
            </a:r>
            <a:endParaRPr sz="14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Calibri" panose="020F0502020204030204"/>
              </a:rPr>
              <a:t>Persistencia del modo visual entre escenas (PlayerPrefs / DontDestroyOnLoad).  ·  Repo: github.com/chen0357/Un-Paso-a-Ciegas</a:t>
            </a:r>
            <a:endParaRPr sz="13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12/15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Pruebas y resultados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 panose="020F0502020204030204"/>
              </a:rPr>
              <a:t>Validación técnica y con usuarios</a:t>
            </a:r>
            <a:endParaRPr sz="16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743200" cy="155448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n = 3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 panose="020F0502020204030204"/>
              </a:rPr>
              <a:t>usuarios</a:t>
            </a:r>
            <a:endParaRPr sz="14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743200" cy="155448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91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3:20–5:10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 panose="020F0502020204030204"/>
              </a:rPr>
              <a:t>recorrido</a:t>
            </a:r>
            <a:endParaRPr sz="14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59" y="1508760"/>
            <a:ext cx="2743200" cy="155448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691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3 tareas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799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 panose="020F0502020204030204"/>
              </a:rPr>
              <a:t>completadas</a:t>
            </a:r>
            <a:endParaRPr sz="14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9719" y="1508760"/>
            <a:ext cx="2743200" cy="155448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691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3A5C"/>
                </a:solidFill>
                <a:latin typeface="Calibri" panose="020F0502020204030204"/>
              </a:rPr>
              <a:t>FPS estable</a:t>
            </a:r>
            <a:endParaRPr sz="2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81159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 panose="020F0502020204030204"/>
              </a:rPr>
              <a:t>en pruebas</a:t>
            </a:r>
            <a:endParaRPr sz="14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11064240" cy="246888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2044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 panose="020F0502020204030204"/>
              </a:rPr>
              <a:t>Hallazgos principales</a:t>
            </a:r>
            <a:endParaRPr sz="1800" b="1">
              <a:solidFill>
                <a:srgbClr val="1A3A5C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El cruce fue la fase más exigente del recorrido.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El audio del semáforo ayudó a decidir el momento de cruzar.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Tras ajustar el volumen, el metro pudo localizarse mediante audio espacial.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 panose="020F0502020204030204"/>
              </a:rPr>
              <a:t>•  Limitación: muestra pequeña, sin discapacidad visual real y sin cuestionario formal.</a:t>
            </a:r>
            <a:endParaRPr sz="15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13/15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 panose="020F0502020204030204"/>
              </a:rPr>
              <a:t>Conclusiones y trabajos futuros</a:t>
            </a:r>
            <a:endParaRPr sz="3200" b="1">
              <a:solidFill>
                <a:srgbClr val="1A3A5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 panose="020F0502020204030204"/>
              </a:rPr>
              <a:t>•  Se entregó un prototipo demostrable PCVR coherente con objetivos y bibliografía.</a:t>
            </a:r>
            <a:endParaRPr sz="17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 panose="020F0502020204030204"/>
              </a:rPr>
              <a:t>•  VLVS propone una experiencia de sensibilización basada en acción multimodal: visión, audio, háptica y tareas urbanas.</a:t>
            </a:r>
            <a:endParaRPr sz="17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 panose="020F0502020204030204"/>
              </a:rPr>
              <a:t>•  La evaluación es exploratoria (n=3): orienta el diseño, no demuestra eficacia formativa completa.</a:t>
            </a:r>
            <a:endParaRPr sz="17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 panose="020F0502020204030204"/>
              </a:rPr>
              <a:t>•  Futuro: más tramos urbanos, modos más granulares, estudio con más participantes (idealmente con baja visión).</a:t>
            </a:r>
            <a:endParaRPr sz="1700" b="0">
              <a:solidFill>
                <a:srgbClr val="222222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 panose="020F0502020204030204"/>
              </a:rPr>
              <a:t>•  ODS de relación alta: 4 (educación), 10 (desigualdades), 11 (ciudades inclusivas).</a:t>
            </a:r>
            <a:endParaRPr sz="17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 panose="020F0502020204030204"/>
              </a:rPr>
              <a:t>VLVS: Un Paso a Ciegas  ·  Defensa TFG  ·  14/15</a:t>
            </a:r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sz="1100" b="0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 panose="020F0502020204030204"/>
              </a:rPr>
              <a:t>Gracias por su atención</a:t>
            </a:r>
            <a:endParaRPr sz="400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0"/>
              </a:spcBef>
            </a:pPr>
            <a:r>
              <a:rPr sz="2200" b="0">
                <a:solidFill>
                  <a:srgbClr val="D0DCE8"/>
                </a:solidFill>
                <a:latin typeface="Calibri" panose="020F0502020204030204"/>
              </a:rPr>
              <a:t>VLVS: Un Paso a Ciegas  ·  Preguntas</a:t>
            </a:r>
            <a:endParaRPr sz="2200" b="0">
              <a:solidFill>
                <a:srgbClr val="D0DCE8"/>
              </a:solidFill>
              <a:latin typeface="Calibri" panose="020F0502020204030204"/>
            </a:endParaRPr>
          </a:p>
          <a:p>
            <a:pPr algn="ctr">
              <a:spcBef>
                <a:spcPts val="2800"/>
              </a:spcBef>
            </a:pPr>
            <a:r>
              <a:rPr sz="1600" b="0">
                <a:solidFill>
                  <a:srgbClr val="A8C0D8"/>
                </a:solidFill>
                <a:latin typeface="Calibri" panose="020F0502020204030204"/>
              </a:rPr>
              <a:t>github.com/chen0357/Un-Paso-a-Ciegas</a:t>
            </a:r>
            <a:endParaRPr sz="1600" b="0">
              <a:solidFill>
                <a:srgbClr val="A8C0D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6050</Words>
  <Application>WPS 演示</Application>
  <PresentationFormat>On-screen Show (4:3)</PresentationFormat>
  <Paragraphs>359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CHEN</cp:lastModifiedBy>
  <cp:revision>2</cp:revision>
  <dcterms:created xsi:type="dcterms:W3CDTF">2013-01-27T09:14:00Z</dcterms:created>
  <dcterms:modified xsi:type="dcterms:W3CDTF">2026-08-07T04:32:51Z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6759B3BCDF0F4393B720964EA8D19D67_12</vt:lpwstr>
  </property>
</Properties>
</file>